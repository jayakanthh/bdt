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68" r:id="rId3"/>
    <p:sldId id="257" r:id="rId4"/>
    <p:sldId id="258" r:id="rId5"/>
    <p:sldId id="259" r:id="rId6"/>
    <p:sldId id="260" r:id="rId7"/>
    <p:sldId id="261" r:id="rId8"/>
    <p:sldId id="262" r:id="rId9"/>
    <p:sldId id="263" r:id="rId10"/>
    <p:sldId id="264" r:id="rId11"/>
    <p:sldId id="265" r:id="rId12"/>
    <p:sldId id="266" r:id="rId13"/>
    <p:sldId id="267"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25" autoAdjust="0"/>
    <p:restoredTop sz="94701"/>
  </p:normalViewPr>
  <p:slideViewPr>
    <p:cSldViewPr snapToGrid="0">
      <p:cViewPr>
        <p:scale>
          <a:sx n="42" d="100"/>
          <a:sy n="42" d="100"/>
        </p:scale>
        <p:origin x="2096" y="16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31DA02-F94E-43EF-8D64-EB499096315C}" type="datetimeFigureOut">
              <a:rPr lang="en-IN" smtClean="0"/>
              <a:t>02/04/26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FE2BB0-46AC-42F6-B52D-5559B62AEB34}" type="slidenum">
              <a:rPr lang="en-IN" smtClean="0"/>
              <a:t>‹#›</a:t>
            </a:fld>
            <a:endParaRPr lang="en-IN"/>
          </a:p>
        </p:txBody>
      </p:sp>
    </p:spTree>
    <p:extLst>
      <p:ext uri="{BB962C8B-B14F-4D97-AF65-F5344CB8AC3E}">
        <p14:creationId xmlns:p14="http://schemas.microsoft.com/office/powerpoint/2010/main" val="1191015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31DA02-F94E-43EF-8D64-EB499096315C}" type="datetimeFigureOut">
              <a:rPr lang="en-IN" smtClean="0"/>
              <a:t>02/04/26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FE2BB0-46AC-42F6-B52D-5559B62AEB34}" type="slidenum">
              <a:rPr lang="en-IN" smtClean="0"/>
              <a:t>‹#›</a:t>
            </a:fld>
            <a:endParaRPr lang="en-IN"/>
          </a:p>
        </p:txBody>
      </p:sp>
    </p:spTree>
    <p:extLst>
      <p:ext uri="{BB962C8B-B14F-4D97-AF65-F5344CB8AC3E}">
        <p14:creationId xmlns:p14="http://schemas.microsoft.com/office/powerpoint/2010/main" val="662064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31DA02-F94E-43EF-8D64-EB499096315C}" type="datetimeFigureOut">
              <a:rPr lang="en-IN" smtClean="0"/>
              <a:t>02/04/26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FE2BB0-46AC-42F6-B52D-5559B62AEB34}" type="slidenum">
              <a:rPr lang="en-IN" smtClean="0"/>
              <a:t>‹#›</a:t>
            </a:fld>
            <a:endParaRPr lang="en-IN"/>
          </a:p>
        </p:txBody>
      </p:sp>
    </p:spTree>
    <p:extLst>
      <p:ext uri="{BB962C8B-B14F-4D97-AF65-F5344CB8AC3E}">
        <p14:creationId xmlns:p14="http://schemas.microsoft.com/office/powerpoint/2010/main" val="1435408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31DA02-F94E-43EF-8D64-EB499096315C}" type="datetimeFigureOut">
              <a:rPr lang="en-IN" smtClean="0"/>
              <a:t>02/04/26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FE2BB0-46AC-42F6-B52D-5559B62AEB34}" type="slidenum">
              <a:rPr lang="en-IN" smtClean="0"/>
              <a:t>‹#›</a:t>
            </a:fld>
            <a:endParaRPr lang="en-IN"/>
          </a:p>
        </p:txBody>
      </p:sp>
    </p:spTree>
    <p:extLst>
      <p:ext uri="{BB962C8B-B14F-4D97-AF65-F5344CB8AC3E}">
        <p14:creationId xmlns:p14="http://schemas.microsoft.com/office/powerpoint/2010/main" val="149995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31DA02-F94E-43EF-8D64-EB499096315C}" type="datetimeFigureOut">
              <a:rPr lang="en-IN" smtClean="0"/>
              <a:t>02/04/26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2FE2BB0-46AC-42F6-B52D-5559B62AEB34}" type="slidenum">
              <a:rPr lang="en-IN" smtClean="0"/>
              <a:t>‹#›</a:t>
            </a:fld>
            <a:endParaRPr lang="en-IN"/>
          </a:p>
        </p:txBody>
      </p:sp>
    </p:spTree>
    <p:extLst>
      <p:ext uri="{BB962C8B-B14F-4D97-AF65-F5344CB8AC3E}">
        <p14:creationId xmlns:p14="http://schemas.microsoft.com/office/powerpoint/2010/main" val="2960556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31DA02-F94E-43EF-8D64-EB499096315C}" type="datetimeFigureOut">
              <a:rPr lang="en-IN" smtClean="0"/>
              <a:t>02/04/26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2FE2BB0-46AC-42F6-B52D-5559B62AEB34}" type="slidenum">
              <a:rPr lang="en-IN" smtClean="0"/>
              <a:t>‹#›</a:t>
            </a:fld>
            <a:endParaRPr lang="en-IN"/>
          </a:p>
        </p:txBody>
      </p:sp>
    </p:spTree>
    <p:extLst>
      <p:ext uri="{BB962C8B-B14F-4D97-AF65-F5344CB8AC3E}">
        <p14:creationId xmlns:p14="http://schemas.microsoft.com/office/powerpoint/2010/main" val="4210218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31DA02-F94E-43EF-8D64-EB499096315C}" type="datetimeFigureOut">
              <a:rPr lang="en-IN" smtClean="0"/>
              <a:t>02/04/26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2FE2BB0-46AC-42F6-B52D-5559B62AEB34}" type="slidenum">
              <a:rPr lang="en-IN" smtClean="0"/>
              <a:t>‹#›</a:t>
            </a:fld>
            <a:endParaRPr lang="en-IN"/>
          </a:p>
        </p:txBody>
      </p:sp>
    </p:spTree>
    <p:extLst>
      <p:ext uri="{BB962C8B-B14F-4D97-AF65-F5344CB8AC3E}">
        <p14:creationId xmlns:p14="http://schemas.microsoft.com/office/powerpoint/2010/main" val="4114529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31DA02-F94E-43EF-8D64-EB499096315C}" type="datetimeFigureOut">
              <a:rPr lang="en-IN" smtClean="0"/>
              <a:t>02/04/26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FE2BB0-46AC-42F6-B52D-5559B62AEB34}" type="slidenum">
              <a:rPr lang="en-IN" smtClean="0"/>
              <a:t>‹#›</a:t>
            </a:fld>
            <a:endParaRPr lang="en-IN"/>
          </a:p>
        </p:txBody>
      </p:sp>
    </p:spTree>
    <p:extLst>
      <p:ext uri="{BB962C8B-B14F-4D97-AF65-F5344CB8AC3E}">
        <p14:creationId xmlns:p14="http://schemas.microsoft.com/office/powerpoint/2010/main" val="3189023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31DA02-F94E-43EF-8D64-EB499096315C}" type="datetimeFigureOut">
              <a:rPr lang="en-IN" smtClean="0"/>
              <a:t>02/04/26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FE2BB0-46AC-42F6-B52D-5559B62AEB34}" type="slidenum">
              <a:rPr lang="en-IN" smtClean="0"/>
              <a:t>‹#›</a:t>
            </a:fld>
            <a:endParaRPr lang="en-IN"/>
          </a:p>
        </p:txBody>
      </p:sp>
    </p:spTree>
    <p:extLst>
      <p:ext uri="{BB962C8B-B14F-4D97-AF65-F5344CB8AC3E}">
        <p14:creationId xmlns:p14="http://schemas.microsoft.com/office/powerpoint/2010/main" val="2027221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31DA02-F94E-43EF-8D64-EB499096315C}" type="datetimeFigureOut">
              <a:rPr lang="en-IN" smtClean="0"/>
              <a:t>02/04/26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FE2BB0-46AC-42F6-B52D-5559B62AEB34}" type="slidenum">
              <a:rPr lang="en-IN" smtClean="0"/>
              <a:t>‹#›</a:t>
            </a:fld>
            <a:endParaRPr lang="en-IN"/>
          </a:p>
        </p:txBody>
      </p:sp>
    </p:spTree>
    <p:extLst>
      <p:ext uri="{BB962C8B-B14F-4D97-AF65-F5344CB8AC3E}">
        <p14:creationId xmlns:p14="http://schemas.microsoft.com/office/powerpoint/2010/main" val="327223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31DA02-F94E-43EF-8D64-EB499096315C}" type="datetimeFigureOut">
              <a:rPr lang="en-IN" smtClean="0"/>
              <a:t>02/04/26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FE2BB0-46AC-42F6-B52D-5559B62AEB34}" type="slidenum">
              <a:rPr lang="en-IN" smtClean="0"/>
              <a:t>‹#›</a:t>
            </a:fld>
            <a:endParaRPr lang="en-IN"/>
          </a:p>
        </p:txBody>
      </p:sp>
    </p:spTree>
    <p:extLst>
      <p:ext uri="{BB962C8B-B14F-4D97-AF65-F5344CB8AC3E}">
        <p14:creationId xmlns:p14="http://schemas.microsoft.com/office/powerpoint/2010/main" val="15822591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31DA02-F94E-43EF-8D64-EB499096315C}" type="datetimeFigureOut">
              <a:rPr lang="en-IN" smtClean="0"/>
              <a:t>02/04/26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FE2BB0-46AC-42F6-B52D-5559B62AEB34}"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19260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31DA02-F94E-43EF-8D64-EB499096315C}" type="datetimeFigureOut">
              <a:rPr lang="en-IN" smtClean="0"/>
              <a:t>02/04/26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FE2BB0-46AC-42F6-B52D-5559B62AEB34}" type="slidenum">
              <a:rPr lang="en-IN" smtClean="0"/>
              <a:t>‹#›</a:t>
            </a:fld>
            <a:endParaRPr lang="en-IN"/>
          </a:p>
        </p:txBody>
      </p:sp>
    </p:spTree>
    <p:extLst>
      <p:ext uri="{BB962C8B-B14F-4D97-AF65-F5344CB8AC3E}">
        <p14:creationId xmlns:p14="http://schemas.microsoft.com/office/powerpoint/2010/main" val="25167668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C31DA02-F94E-43EF-8D64-EB499096315C}" type="datetimeFigureOut">
              <a:rPr lang="en-IN" smtClean="0"/>
              <a:t>02/04/26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2FE2BB0-46AC-42F6-B52D-5559B62AEB34}" type="slidenum">
              <a:rPr lang="en-IN" smtClean="0"/>
              <a:t>‹#›</a:t>
            </a:fld>
            <a:endParaRPr lang="en-IN"/>
          </a:p>
        </p:txBody>
      </p:sp>
    </p:spTree>
    <p:extLst>
      <p:ext uri="{BB962C8B-B14F-4D97-AF65-F5344CB8AC3E}">
        <p14:creationId xmlns:p14="http://schemas.microsoft.com/office/powerpoint/2010/main" val="32955867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C31DA02-F94E-43EF-8D64-EB499096315C}" type="datetimeFigureOut">
              <a:rPr lang="en-IN" smtClean="0"/>
              <a:t>02/04/26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2FE2BB0-46AC-42F6-B52D-5559B62AEB34}" type="slidenum">
              <a:rPr lang="en-IN" smtClean="0"/>
              <a:t>‹#›</a:t>
            </a:fld>
            <a:endParaRPr lang="en-IN"/>
          </a:p>
        </p:txBody>
      </p:sp>
    </p:spTree>
    <p:extLst>
      <p:ext uri="{BB962C8B-B14F-4D97-AF65-F5344CB8AC3E}">
        <p14:creationId xmlns:p14="http://schemas.microsoft.com/office/powerpoint/2010/main" val="29899596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31DA02-F94E-43EF-8D64-EB499096315C}" type="datetimeFigureOut">
              <a:rPr lang="en-IN" smtClean="0"/>
              <a:t>02/04/26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FE2BB0-46AC-42F6-B52D-5559B62AEB34}" type="slidenum">
              <a:rPr lang="en-IN" smtClean="0"/>
              <a:t>‹#›</a:t>
            </a:fld>
            <a:endParaRPr lang="en-IN"/>
          </a:p>
        </p:txBody>
      </p:sp>
    </p:spTree>
    <p:extLst>
      <p:ext uri="{BB962C8B-B14F-4D97-AF65-F5344CB8AC3E}">
        <p14:creationId xmlns:p14="http://schemas.microsoft.com/office/powerpoint/2010/main" val="29472137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31DA02-F94E-43EF-8D64-EB499096315C}" type="datetimeFigureOut">
              <a:rPr lang="en-IN" smtClean="0"/>
              <a:t>02/04/26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FE2BB0-46AC-42F6-B52D-5559B62AEB34}" type="slidenum">
              <a:rPr lang="en-IN" smtClean="0"/>
              <a:t>‹#›</a:t>
            </a:fld>
            <a:endParaRPr lang="en-IN"/>
          </a:p>
        </p:txBody>
      </p:sp>
    </p:spTree>
    <p:extLst>
      <p:ext uri="{BB962C8B-B14F-4D97-AF65-F5344CB8AC3E}">
        <p14:creationId xmlns:p14="http://schemas.microsoft.com/office/powerpoint/2010/main" val="2552265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C31DA02-F94E-43EF-8D64-EB499096315C}" type="datetimeFigureOut">
              <a:rPr lang="en-IN" smtClean="0"/>
              <a:t>02/04/26</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E2FE2BB0-46AC-42F6-B52D-5559B62AEB34}" type="slidenum">
              <a:rPr lang="en-IN" smtClean="0"/>
              <a:t>‹#›</a:t>
            </a:fld>
            <a:endParaRPr lang="en-IN"/>
          </a:p>
        </p:txBody>
      </p:sp>
    </p:spTree>
    <p:extLst>
      <p:ext uri="{BB962C8B-B14F-4D97-AF65-F5344CB8AC3E}">
        <p14:creationId xmlns:p14="http://schemas.microsoft.com/office/powerpoint/2010/main" val="2262502539"/>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doi.org/10.1145/1970392.1970395" TargetMode="External"/><Relationship Id="rId3" Type="http://schemas.openxmlformats.org/officeDocument/2006/relationships/hyperlink" Target="https://arxiv.org/abs/1607.00148" TargetMode="External"/><Relationship Id="rId7" Type="http://schemas.openxmlformats.org/officeDocument/2006/relationships/hyperlink" Target="https://arxiv.org/abs/1802.03903" TargetMode="External"/><Relationship Id="rId2" Type="http://schemas.openxmlformats.org/officeDocument/2006/relationships/hyperlink" Target="https://ieeexplore.ieee.org/document/4781136" TargetMode="External"/><Relationship Id="rId1" Type="http://schemas.openxmlformats.org/officeDocument/2006/relationships/slideLayout" Target="../slideLayouts/slideLayout2.xml"/><Relationship Id="rId6" Type="http://schemas.openxmlformats.org/officeDocument/2006/relationships/hyperlink" Target="https://dl.acm.org/doi/10.1145/342009.335388" TargetMode="External"/><Relationship Id="rId5" Type="http://schemas.openxmlformats.org/officeDocument/2006/relationships/hyperlink" Target="https://doi.org/10.1145/1541880.1541882" TargetMode="External"/><Relationship Id="rId10" Type="http://schemas.openxmlformats.org/officeDocument/2006/relationships/hyperlink" Target="https://arxiv.org/abs/1906.03821" TargetMode="External"/><Relationship Id="rId4" Type="http://schemas.openxmlformats.org/officeDocument/2006/relationships/hyperlink" Target="https://arxiv.org/abs/1802.04431" TargetMode="External"/><Relationship Id="rId9" Type="http://schemas.openxmlformats.org/officeDocument/2006/relationships/hyperlink" Target="https://arxiv.org/abs/1901.03407"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5F9D0-1713-7EAF-47D9-64E037A822D8}"/>
              </a:ext>
            </a:extLst>
          </p:cNvPr>
          <p:cNvSpPr>
            <a:spLocks noGrp="1"/>
          </p:cNvSpPr>
          <p:nvPr>
            <p:ph type="ctrTitle"/>
          </p:nvPr>
        </p:nvSpPr>
        <p:spPr/>
        <p:txBody>
          <a:bodyPr/>
          <a:lstStyle/>
          <a:p>
            <a:r>
              <a:rPr lang="en-IN" b="1" dirty="0"/>
              <a:t>Realtime anomaly detection</a:t>
            </a:r>
            <a:endParaRPr lang="en-IN" dirty="0"/>
          </a:p>
        </p:txBody>
      </p:sp>
      <p:sp>
        <p:nvSpPr>
          <p:cNvPr id="3" name="Subtitle 2">
            <a:extLst>
              <a:ext uri="{FF2B5EF4-FFF2-40B4-BE49-F238E27FC236}">
                <a16:creationId xmlns:a16="http://schemas.microsoft.com/office/drawing/2014/main" id="{78EA7548-4897-C562-4CB1-ECCC2E3825D5}"/>
              </a:ext>
            </a:extLst>
          </p:cNvPr>
          <p:cNvSpPr>
            <a:spLocks noGrp="1"/>
          </p:cNvSpPr>
          <p:nvPr>
            <p:ph type="subTitle" idx="1"/>
          </p:nvPr>
        </p:nvSpPr>
        <p:spPr>
          <a:xfrm>
            <a:off x="6174657" y="4670323"/>
            <a:ext cx="5663381" cy="1858295"/>
          </a:xfrm>
        </p:spPr>
        <p:txBody>
          <a:bodyPr>
            <a:normAutofit/>
          </a:bodyPr>
          <a:lstStyle/>
          <a:p>
            <a:r>
              <a:rPr lang="en-IN" dirty="0"/>
              <a:t>Review-3</a:t>
            </a:r>
          </a:p>
          <a:p>
            <a:r>
              <a:rPr lang="en-IN" dirty="0"/>
              <a:t>  2320030301-  </a:t>
            </a:r>
            <a:r>
              <a:rPr lang="en-IN" dirty="0" err="1"/>
              <a:t>K.Sahitya</a:t>
            </a:r>
            <a:endParaRPr lang="en-IN" dirty="0"/>
          </a:p>
          <a:p>
            <a:r>
              <a:rPr lang="en-IN" dirty="0"/>
              <a:t>2320030296- </a:t>
            </a:r>
            <a:r>
              <a:rPr lang="en-IN" dirty="0" err="1"/>
              <a:t>K.Srirjith</a:t>
            </a:r>
            <a:endParaRPr lang="en-IN" dirty="0"/>
          </a:p>
          <a:p>
            <a:r>
              <a:rPr lang="en-IN" dirty="0"/>
              <a:t>   2320090050- </a:t>
            </a:r>
            <a:r>
              <a:rPr lang="en-IN" dirty="0" err="1"/>
              <a:t>K.Jaikanth</a:t>
            </a:r>
            <a:endParaRPr lang="en-IN" dirty="0"/>
          </a:p>
          <a:p>
            <a:endParaRPr lang="en-IN" dirty="0"/>
          </a:p>
        </p:txBody>
      </p:sp>
    </p:spTree>
    <p:extLst>
      <p:ext uri="{BB962C8B-B14F-4D97-AF65-F5344CB8AC3E}">
        <p14:creationId xmlns:p14="http://schemas.microsoft.com/office/powerpoint/2010/main" val="4036445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031F-C52D-897F-D207-61FA4FFB4258}"/>
              </a:ext>
            </a:extLst>
          </p:cNvPr>
          <p:cNvSpPr>
            <a:spLocks noGrp="1"/>
          </p:cNvSpPr>
          <p:nvPr>
            <p:ph type="title"/>
          </p:nvPr>
        </p:nvSpPr>
        <p:spPr/>
        <p:txBody>
          <a:bodyPr/>
          <a:lstStyle/>
          <a:p>
            <a:r>
              <a:rPr lang="en-IN" dirty="0"/>
              <a:t>TABLE OF CONTENTS</a:t>
            </a:r>
          </a:p>
        </p:txBody>
      </p:sp>
      <p:sp>
        <p:nvSpPr>
          <p:cNvPr id="3" name="Content Placeholder 2">
            <a:extLst>
              <a:ext uri="{FF2B5EF4-FFF2-40B4-BE49-F238E27FC236}">
                <a16:creationId xmlns:a16="http://schemas.microsoft.com/office/drawing/2014/main" id="{0E52A966-5ADF-FDD8-0AD3-D377700A774D}"/>
              </a:ext>
            </a:extLst>
          </p:cNvPr>
          <p:cNvSpPr>
            <a:spLocks noGrp="1"/>
          </p:cNvSpPr>
          <p:nvPr>
            <p:ph idx="1"/>
          </p:nvPr>
        </p:nvSpPr>
        <p:spPr>
          <a:xfrm>
            <a:off x="913795" y="2054942"/>
            <a:ext cx="10353762" cy="3736258"/>
          </a:xfrm>
        </p:spPr>
        <p:txBody>
          <a:bodyPr/>
          <a:lstStyle/>
          <a:p>
            <a:r>
              <a:rPr lang="en-IN" dirty="0"/>
              <a:t>Review2 Comments</a:t>
            </a:r>
          </a:p>
          <a:p>
            <a:r>
              <a:rPr lang="en-IN" dirty="0"/>
              <a:t>Introduction</a:t>
            </a:r>
          </a:p>
          <a:p>
            <a:r>
              <a:rPr lang="en-IN" dirty="0"/>
              <a:t>Module-wise Implementation</a:t>
            </a:r>
          </a:p>
          <a:p>
            <a:r>
              <a:rPr lang="en-IN" dirty="0"/>
              <a:t>Comparison and Discussion</a:t>
            </a:r>
          </a:p>
          <a:p>
            <a:r>
              <a:rPr lang="en-IN" dirty="0"/>
              <a:t>Results</a:t>
            </a:r>
          </a:p>
          <a:p>
            <a:r>
              <a:rPr lang="en-IN" dirty="0"/>
              <a:t>Conclusion</a:t>
            </a:r>
          </a:p>
          <a:p>
            <a:r>
              <a:rPr lang="en-IN" dirty="0"/>
              <a:t>Future Direction</a:t>
            </a:r>
          </a:p>
          <a:p>
            <a:r>
              <a:rPr lang="en-IN" dirty="0"/>
              <a:t>References</a:t>
            </a:r>
          </a:p>
          <a:p>
            <a:endParaRPr lang="en-IN" dirty="0"/>
          </a:p>
          <a:p>
            <a:endParaRPr lang="en-IN" dirty="0"/>
          </a:p>
          <a:p>
            <a:endParaRPr lang="en-IN" dirty="0"/>
          </a:p>
        </p:txBody>
      </p:sp>
    </p:spTree>
    <p:extLst>
      <p:ext uri="{BB962C8B-B14F-4D97-AF65-F5344CB8AC3E}">
        <p14:creationId xmlns:p14="http://schemas.microsoft.com/office/powerpoint/2010/main" val="1862804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99E96-2BD6-D7C3-7C73-56497E22248F}"/>
              </a:ext>
            </a:extLst>
          </p:cNvPr>
          <p:cNvSpPr>
            <a:spLocks noGrp="1"/>
          </p:cNvSpPr>
          <p:nvPr>
            <p:ph type="title"/>
          </p:nvPr>
        </p:nvSpPr>
        <p:spPr/>
        <p:txBody>
          <a:bodyPr/>
          <a:lstStyle/>
          <a:p>
            <a:r>
              <a:rPr lang="en-IN" dirty="0"/>
              <a:t>Review2 comments</a:t>
            </a:r>
          </a:p>
        </p:txBody>
      </p:sp>
      <p:sp>
        <p:nvSpPr>
          <p:cNvPr id="3" name="Content Placeholder 2">
            <a:extLst>
              <a:ext uri="{FF2B5EF4-FFF2-40B4-BE49-F238E27FC236}">
                <a16:creationId xmlns:a16="http://schemas.microsoft.com/office/drawing/2014/main" id="{1D6BA41D-8C97-EEC2-9A58-3C7B61AC64EB}"/>
              </a:ext>
            </a:extLst>
          </p:cNvPr>
          <p:cNvSpPr>
            <a:spLocks noGrp="1"/>
          </p:cNvSpPr>
          <p:nvPr>
            <p:ph idx="1"/>
          </p:nvPr>
        </p:nvSpPr>
        <p:spPr>
          <a:xfrm>
            <a:off x="913795" y="3067665"/>
            <a:ext cx="10353762" cy="2723535"/>
          </a:xfrm>
        </p:spPr>
        <p:txBody>
          <a:bodyPr>
            <a:normAutofit/>
          </a:bodyPr>
          <a:lstStyle/>
          <a:p>
            <a:pPr marL="0" indent="0" algn="ctr">
              <a:buNone/>
            </a:pPr>
            <a:r>
              <a:rPr lang="en-IN" sz="2800" dirty="0">
                <a:solidFill>
                  <a:srgbClr val="FFFF00"/>
                </a:solidFill>
              </a:rPr>
              <a:t>Include INTRODUCTION</a:t>
            </a:r>
          </a:p>
        </p:txBody>
      </p:sp>
    </p:spTree>
    <p:extLst>
      <p:ext uri="{BB962C8B-B14F-4D97-AF65-F5344CB8AC3E}">
        <p14:creationId xmlns:p14="http://schemas.microsoft.com/office/powerpoint/2010/main" val="779266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77400-B16C-8845-C2D2-22C87D3CDA23}"/>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1DE80ED4-7150-CE58-52DC-5952BE3165F2}"/>
              </a:ext>
            </a:extLst>
          </p:cNvPr>
          <p:cNvSpPr>
            <a:spLocks noGrp="1"/>
          </p:cNvSpPr>
          <p:nvPr>
            <p:ph idx="1"/>
          </p:nvPr>
        </p:nvSpPr>
        <p:spPr/>
        <p:txBody>
          <a:bodyPr>
            <a:normAutofit fontScale="92500" lnSpcReduction="20000"/>
          </a:bodyPr>
          <a:lstStyle/>
          <a:p>
            <a:pPr marL="0" indent="0">
              <a:buNone/>
            </a:pPr>
            <a:r>
              <a:rPr lang="en-US" dirty="0"/>
              <a:t>In today’s digital world, large volumes of data are generated continuously from sources such as industrial systems, financial transactions, network traffic, and IoT devices. Monitoring this data in real time is essential to detect unusual patterns or anomalies that may indicate system failures, fraud, or security threats.</a:t>
            </a:r>
          </a:p>
          <a:p>
            <a:pPr marL="0" indent="0">
              <a:buNone/>
            </a:pPr>
            <a:r>
              <a:rPr lang="en-US" dirty="0"/>
              <a:t>Traditional anomaly detection methods rely on static thresholds and batch processing, which are not effective for handling high-speed streaming data. These approaches often fail to detect complex patterns and may result in delayed responses.</a:t>
            </a:r>
          </a:p>
          <a:p>
            <a:pPr marL="0" indent="0">
              <a:buNone/>
            </a:pPr>
            <a:r>
              <a:rPr lang="en-US" dirty="0"/>
              <a:t>To overcome these limitations, this project proposes a </a:t>
            </a:r>
            <a:r>
              <a:rPr lang="en-US" b="1" dirty="0"/>
              <a:t>Real-Time Anomaly Detection System</a:t>
            </a:r>
            <a:r>
              <a:rPr lang="en-US" dirty="0"/>
              <a:t> that processes continuous data streams using modern big data technologies and machine learning algorithms. The system integrates </a:t>
            </a:r>
            <a:r>
              <a:rPr lang="en-US" b="1" dirty="0"/>
              <a:t>Kafka for data streaming, Spark for real-time processing, and Isolation Forest for anomaly detection</a:t>
            </a:r>
            <a:r>
              <a:rPr lang="en-US" dirty="0"/>
              <a:t>.</a:t>
            </a:r>
          </a:p>
          <a:p>
            <a:pPr marL="0" indent="0">
              <a:buNone/>
            </a:pPr>
            <a:r>
              <a:rPr lang="en-US" dirty="0"/>
              <a:t>By analyzing data as it is generated, the system enables early detection of abnormal events and provides real-time visualization through an interactive dashboard. This improves system reliability, enhances security, and supports efficient decision-making.</a:t>
            </a:r>
          </a:p>
          <a:p>
            <a:endParaRPr lang="en-IN" dirty="0"/>
          </a:p>
        </p:txBody>
      </p:sp>
    </p:spTree>
    <p:extLst>
      <p:ext uri="{BB962C8B-B14F-4D97-AF65-F5344CB8AC3E}">
        <p14:creationId xmlns:p14="http://schemas.microsoft.com/office/powerpoint/2010/main" val="3286697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4BB7C-8D5E-52C1-0A26-5C3735B9CAB7}"/>
              </a:ext>
            </a:extLst>
          </p:cNvPr>
          <p:cNvSpPr>
            <a:spLocks noGrp="1"/>
          </p:cNvSpPr>
          <p:nvPr>
            <p:ph type="title"/>
          </p:nvPr>
        </p:nvSpPr>
        <p:spPr/>
        <p:txBody>
          <a:bodyPr>
            <a:normAutofit/>
          </a:bodyPr>
          <a:lstStyle/>
          <a:p>
            <a:r>
              <a:rPr lang="en-IN" sz="3600" dirty="0"/>
              <a:t>MODULE-WISE IMPLEMENTATION</a:t>
            </a:r>
          </a:p>
        </p:txBody>
      </p:sp>
      <p:sp>
        <p:nvSpPr>
          <p:cNvPr id="3" name="Content Placeholder 2">
            <a:extLst>
              <a:ext uri="{FF2B5EF4-FFF2-40B4-BE49-F238E27FC236}">
                <a16:creationId xmlns:a16="http://schemas.microsoft.com/office/drawing/2014/main" id="{53F71558-D66B-2DF2-F748-28B629F1A721}"/>
              </a:ext>
            </a:extLst>
          </p:cNvPr>
          <p:cNvSpPr>
            <a:spLocks noGrp="1"/>
          </p:cNvSpPr>
          <p:nvPr>
            <p:ph idx="1"/>
          </p:nvPr>
        </p:nvSpPr>
        <p:spPr>
          <a:xfrm>
            <a:off x="1141413" y="1848466"/>
            <a:ext cx="9905998" cy="5009534"/>
          </a:xfrm>
        </p:spPr>
        <p:txBody>
          <a:bodyPr>
            <a:normAutofit fontScale="77500" lnSpcReduction="20000"/>
          </a:bodyPr>
          <a:lstStyle/>
          <a:p>
            <a:pPr marL="0" indent="0">
              <a:buNone/>
            </a:pPr>
            <a:r>
              <a:rPr lang="en-IN" b="1" dirty="0"/>
              <a:t>1. Data Generation Module</a:t>
            </a:r>
          </a:p>
          <a:p>
            <a:pPr marL="0" indent="0">
              <a:buNone/>
            </a:pPr>
            <a:r>
              <a:rPr lang="en-IN" dirty="0"/>
              <a:t>Synthetic data is generated using the </a:t>
            </a:r>
            <a:r>
              <a:rPr lang="en-IN" b="1" dirty="0"/>
              <a:t>Faker library in Python</a:t>
            </a:r>
            <a:r>
              <a:rPr lang="en-IN" dirty="0"/>
              <a:t> to simulate real-world streaming scenarios. </a:t>
            </a:r>
          </a:p>
          <a:p>
            <a:pPr marL="0" indent="0">
              <a:buNone/>
            </a:pPr>
            <a:r>
              <a:rPr lang="en-IN" dirty="0"/>
              <a:t>The generated data includes attributes such as: </a:t>
            </a:r>
          </a:p>
          <a:p>
            <a:pPr marL="457200" lvl="1" indent="0">
              <a:buNone/>
            </a:pPr>
            <a:r>
              <a:rPr lang="en-IN" dirty="0"/>
              <a:t>transaction ID </a:t>
            </a:r>
          </a:p>
          <a:p>
            <a:pPr marL="457200" lvl="1" indent="0">
              <a:buNone/>
            </a:pPr>
            <a:r>
              <a:rPr lang="en-IN" dirty="0"/>
              <a:t>timestamp </a:t>
            </a:r>
          </a:p>
          <a:p>
            <a:pPr marL="457200" lvl="1" indent="0">
              <a:buNone/>
            </a:pPr>
            <a:r>
              <a:rPr lang="en-IN" dirty="0"/>
              <a:t>system metrics (e.g., CPU usage, temperature, or transaction amount) </a:t>
            </a:r>
          </a:p>
          <a:p>
            <a:pPr marL="0" indent="0">
              <a:buNone/>
            </a:pPr>
            <a:r>
              <a:rPr lang="en-IN" dirty="0"/>
              <a:t>This module ensures a continuous flow of realistic input data for the system. </a:t>
            </a:r>
          </a:p>
          <a:p>
            <a:pPr marL="0" indent="0">
              <a:buNone/>
            </a:pPr>
            <a:br>
              <a:rPr lang="en-IN" dirty="0"/>
            </a:br>
            <a:endParaRPr lang="en-IN" dirty="0"/>
          </a:p>
          <a:p>
            <a:pPr marL="0" indent="0">
              <a:buNone/>
            </a:pPr>
            <a:r>
              <a:rPr lang="en-IN" b="1" dirty="0"/>
              <a:t>2. Data Streaming Module</a:t>
            </a:r>
          </a:p>
          <a:p>
            <a:pPr marL="0" indent="0">
              <a:buNone/>
            </a:pPr>
            <a:r>
              <a:rPr lang="en-IN" b="1" dirty="0"/>
              <a:t>Apache Kafka</a:t>
            </a:r>
            <a:r>
              <a:rPr lang="en-IN" dirty="0"/>
              <a:t> is used as the real-time data streaming platform. </a:t>
            </a:r>
          </a:p>
          <a:p>
            <a:pPr marL="0" indent="0">
              <a:buNone/>
            </a:pPr>
            <a:r>
              <a:rPr lang="en-IN" dirty="0"/>
              <a:t>A </a:t>
            </a:r>
            <a:r>
              <a:rPr lang="en-IN" b="1" dirty="0"/>
              <a:t>Kafka Producer</a:t>
            </a:r>
            <a:r>
              <a:rPr lang="en-IN" dirty="0"/>
              <a:t> sends generated data continuously to Kafka topics. </a:t>
            </a:r>
          </a:p>
          <a:p>
            <a:pPr marL="0" indent="0">
              <a:buNone/>
            </a:pPr>
            <a:r>
              <a:rPr lang="en-IN" dirty="0"/>
              <a:t>Kafka ensures: </a:t>
            </a:r>
          </a:p>
          <a:p>
            <a:pPr marL="457200" lvl="1" indent="0">
              <a:buNone/>
            </a:pPr>
            <a:r>
              <a:rPr lang="en-IN" dirty="0"/>
              <a:t>high throughput </a:t>
            </a:r>
          </a:p>
          <a:p>
            <a:pPr marL="457200" lvl="1" indent="0">
              <a:buNone/>
            </a:pPr>
            <a:r>
              <a:rPr lang="en-IN" dirty="0"/>
              <a:t>fault tolerance </a:t>
            </a:r>
          </a:p>
          <a:p>
            <a:pPr marL="457200" lvl="1" indent="0">
              <a:buNone/>
            </a:pPr>
            <a:r>
              <a:rPr lang="en-IN" dirty="0"/>
              <a:t>scalable data ingestion</a:t>
            </a:r>
          </a:p>
          <a:p>
            <a:endParaRPr lang="en-IN" dirty="0"/>
          </a:p>
        </p:txBody>
      </p:sp>
    </p:spTree>
    <p:extLst>
      <p:ext uri="{BB962C8B-B14F-4D97-AF65-F5344CB8AC3E}">
        <p14:creationId xmlns:p14="http://schemas.microsoft.com/office/powerpoint/2010/main" val="3526248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EC7EFA-9F02-6046-CA41-6F2A64E42315}"/>
              </a:ext>
            </a:extLst>
          </p:cNvPr>
          <p:cNvSpPr>
            <a:spLocks noGrp="1"/>
          </p:cNvSpPr>
          <p:nvPr>
            <p:ph idx="4294967295"/>
          </p:nvPr>
        </p:nvSpPr>
        <p:spPr>
          <a:xfrm>
            <a:off x="30163" y="79375"/>
            <a:ext cx="12161837" cy="6626225"/>
          </a:xfrm>
        </p:spPr>
        <p:txBody>
          <a:bodyPr>
            <a:normAutofit fontScale="62500" lnSpcReduction="20000"/>
          </a:bodyPr>
          <a:lstStyle/>
          <a:p>
            <a:pPr marL="0" indent="0">
              <a:buNone/>
            </a:pPr>
            <a:endParaRPr lang="en-US" sz="1900" b="1" dirty="0"/>
          </a:p>
          <a:p>
            <a:pPr marL="0" indent="0">
              <a:buNone/>
            </a:pPr>
            <a:r>
              <a:rPr lang="en-US" sz="1900" b="1" dirty="0"/>
              <a:t>3. Stream Processing Module</a:t>
            </a:r>
          </a:p>
          <a:p>
            <a:pPr marL="0" indent="0">
              <a:buNone/>
            </a:pPr>
            <a:r>
              <a:rPr lang="en-US" sz="1900" b="1" dirty="0"/>
              <a:t>Apache Spark Structured Streaming</a:t>
            </a:r>
            <a:r>
              <a:rPr lang="en-US" sz="1900" dirty="0"/>
              <a:t> is used to process incoming data from Kafka. </a:t>
            </a:r>
          </a:p>
          <a:p>
            <a:pPr marL="0" indent="0">
              <a:buNone/>
            </a:pPr>
            <a:r>
              <a:rPr lang="en-US" sz="1900" dirty="0"/>
              <a:t>Performs real-time operations such as: </a:t>
            </a:r>
          </a:p>
          <a:p>
            <a:pPr marL="457200" lvl="1" indent="0">
              <a:buNone/>
            </a:pPr>
            <a:r>
              <a:rPr lang="en-US" sz="1900" dirty="0"/>
              <a:t>data cleaning </a:t>
            </a:r>
          </a:p>
          <a:p>
            <a:pPr marL="457200" lvl="1" indent="0">
              <a:buNone/>
            </a:pPr>
            <a:r>
              <a:rPr lang="en-US" sz="1900" dirty="0"/>
              <a:t>filtering invalid values </a:t>
            </a:r>
          </a:p>
          <a:p>
            <a:pPr marL="457200" lvl="1" indent="0">
              <a:buNone/>
            </a:pPr>
            <a:r>
              <a:rPr lang="en-US" sz="1900" dirty="0"/>
              <a:t>feature extraction </a:t>
            </a:r>
          </a:p>
          <a:p>
            <a:pPr marL="457200" lvl="1" indent="0">
              <a:buNone/>
            </a:pPr>
            <a:r>
              <a:rPr lang="en-US" sz="1900" dirty="0"/>
              <a:t>normalization </a:t>
            </a:r>
          </a:p>
          <a:p>
            <a:pPr marL="0" indent="0">
              <a:buNone/>
            </a:pPr>
            <a:r>
              <a:rPr lang="en-US" sz="1900" dirty="0"/>
              <a:t>Enables low-latency processing of continuous data streams. </a:t>
            </a:r>
          </a:p>
          <a:p>
            <a:pPr marL="0" indent="0">
              <a:buNone/>
            </a:pPr>
            <a:r>
              <a:rPr lang="en-US" sz="1900" b="1" dirty="0"/>
              <a:t>4. Anomaly Detection Module</a:t>
            </a:r>
          </a:p>
          <a:p>
            <a:pPr marL="0" indent="0">
              <a:buNone/>
            </a:pPr>
            <a:r>
              <a:rPr lang="en-US" sz="1900" dirty="0"/>
              <a:t>The </a:t>
            </a:r>
            <a:r>
              <a:rPr lang="en-US" sz="1900" b="1" dirty="0"/>
              <a:t>Isolation Forest algorithm</a:t>
            </a:r>
            <a:r>
              <a:rPr lang="en-US" sz="1900" dirty="0"/>
              <a:t> is implemented using </a:t>
            </a:r>
            <a:r>
              <a:rPr lang="en-US" sz="1900" b="1" dirty="0"/>
              <a:t>Scikit-learn</a:t>
            </a:r>
            <a:r>
              <a:rPr lang="en-US" sz="1900" dirty="0"/>
              <a:t>. </a:t>
            </a:r>
          </a:p>
          <a:p>
            <a:pPr marL="0" indent="0">
              <a:buNone/>
            </a:pPr>
            <a:r>
              <a:rPr lang="en-US" sz="1900" dirty="0"/>
              <a:t>The model is trained on normal data patterns. </a:t>
            </a:r>
          </a:p>
          <a:p>
            <a:pPr marL="0" indent="0">
              <a:buNone/>
            </a:pPr>
            <a:r>
              <a:rPr lang="en-US" sz="1900" dirty="0"/>
              <a:t>For incoming streaming data: </a:t>
            </a:r>
          </a:p>
          <a:p>
            <a:pPr marL="457200" lvl="1" indent="0">
              <a:buNone/>
            </a:pPr>
            <a:r>
              <a:rPr lang="en-US" sz="1900" dirty="0"/>
              <a:t>anomaly scores are calculated </a:t>
            </a:r>
          </a:p>
          <a:p>
            <a:pPr marL="457200" lvl="1" indent="0">
              <a:buNone/>
            </a:pPr>
            <a:r>
              <a:rPr lang="en-US" sz="1900" dirty="0"/>
              <a:t>data points are classified as </a:t>
            </a:r>
            <a:r>
              <a:rPr lang="en-US" sz="1900" b="1" dirty="0"/>
              <a:t>Normal or Anomaly</a:t>
            </a:r>
            <a:r>
              <a:rPr lang="en-US" sz="1900" dirty="0"/>
              <a:t> </a:t>
            </a:r>
          </a:p>
          <a:p>
            <a:pPr marL="0" indent="0">
              <a:buNone/>
            </a:pPr>
            <a:r>
              <a:rPr lang="en-US" sz="1900" dirty="0"/>
              <a:t>Helps in detecting unusual behavior automatically without manual rules. </a:t>
            </a:r>
          </a:p>
          <a:p>
            <a:pPr marL="0" indent="0">
              <a:buNone/>
            </a:pPr>
            <a:r>
              <a:rPr lang="en-US" sz="1900" b="1" dirty="0"/>
              <a:t>5. Storage Module</a:t>
            </a:r>
          </a:p>
          <a:p>
            <a:pPr marL="0" indent="0">
              <a:buNone/>
            </a:pPr>
            <a:r>
              <a:rPr lang="en-US" sz="1900" dirty="0"/>
              <a:t>Processed results are stored in: </a:t>
            </a:r>
          </a:p>
          <a:p>
            <a:pPr marL="457200" lvl="1" indent="0">
              <a:buNone/>
            </a:pPr>
            <a:r>
              <a:rPr lang="en-US" sz="1900" b="1" dirty="0"/>
              <a:t>SQLite database</a:t>
            </a:r>
            <a:r>
              <a:rPr lang="en-US" sz="1900" dirty="0"/>
              <a:t> (for structured storage) </a:t>
            </a:r>
          </a:p>
          <a:p>
            <a:pPr marL="457200" lvl="1" indent="0">
              <a:buNone/>
            </a:pPr>
            <a:r>
              <a:rPr lang="en-US" sz="1900" dirty="0"/>
              <a:t>or </a:t>
            </a:r>
            <a:r>
              <a:rPr lang="en-US" sz="1900" b="1" dirty="0" err="1"/>
              <a:t>InfluxDB</a:t>
            </a:r>
            <a:r>
              <a:rPr lang="en-US" sz="1900" dirty="0"/>
              <a:t> (for time-series data) </a:t>
            </a:r>
          </a:p>
          <a:p>
            <a:pPr marL="0" indent="0">
              <a:buNone/>
            </a:pPr>
            <a:r>
              <a:rPr lang="en-US" sz="1900" dirty="0"/>
              <a:t>Stores: </a:t>
            </a:r>
          </a:p>
          <a:p>
            <a:pPr marL="457200" lvl="1" indent="0">
              <a:buNone/>
            </a:pPr>
            <a:r>
              <a:rPr lang="en-US" sz="1900" dirty="0"/>
              <a:t>predictions </a:t>
            </a:r>
          </a:p>
          <a:p>
            <a:pPr marL="457200" lvl="1" indent="0">
              <a:buNone/>
            </a:pPr>
            <a:r>
              <a:rPr lang="en-US" sz="1900" dirty="0"/>
              <a:t>ground truth values </a:t>
            </a:r>
          </a:p>
          <a:p>
            <a:pPr marL="457200" lvl="1" indent="0">
              <a:buNone/>
            </a:pPr>
            <a:r>
              <a:rPr lang="en-US" sz="1900" dirty="0"/>
              <a:t>timestamps </a:t>
            </a:r>
          </a:p>
          <a:p>
            <a:pPr marL="0" indent="0">
              <a:buNone/>
            </a:pPr>
            <a:r>
              <a:rPr lang="en-US" sz="1900" dirty="0"/>
              <a:t>Enables performance evaluation and historical analysis.</a:t>
            </a:r>
          </a:p>
          <a:p>
            <a:pPr marL="0" indent="0">
              <a:buNone/>
            </a:pPr>
            <a:endParaRPr lang="en-IN" dirty="0"/>
          </a:p>
        </p:txBody>
      </p:sp>
    </p:spTree>
    <p:extLst>
      <p:ext uri="{BB962C8B-B14F-4D97-AF65-F5344CB8AC3E}">
        <p14:creationId xmlns:p14="http://schemas.microsoft.com/office/powerpoint/2010/main" val="2709812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5593E-8C83-EE2C-973E-5FB12DFA6DCD}"/>
              </a:ext>
            </a:extLst>
          </p:cNvPr>
          <p:cNvSpPr>
            <a:spLocks noGrp="1"/>
          </p:cNvSpPr>
          <p:nvPr>
            <p:ph idx="4294967295"/>
          </p:nvPr>
        </p:nvSpPr>
        <p:spPr>
          <a:xfrm>
            <a:off x="0" y="600075"/>
            <a:ext cx="10515600" cy="5576888"/>
          </a:xfrm>
        </p:spPr>
        <p:txBody>
          <a:bodyPr>
            <a:normAutofit fontScale="92500" lnSpcReduction="20000"/>
          </a:bodyPr>
          <a:lstStyle/>
          <a:p>
            <a:pPr marL="0" indent="0">
              <a:buNone/>
            </a:pPr>
            <a:r>
              <a:rPr lang="en-US" b="1" dirty="0"/>
              <a:t>6. Visualization Module</a:t>
            </a:r>
          </a:p>
          <a:p>
            <a:pPr marL="0" indent="0">
              <a:buNone/>
            </a:pPr>
            <a:r>
              <a:rPr lang="en-US" dirty="0"/>
              <a:t>A real-time dashboard is developed using </a:t>
            </a:r>
            <a:r>
              <a:rPr lang="en-US" b="1" dirty="0" err="1"/>
              <a:t>Streamlit</a:t>
            </a:r>
            <a:r>
              <a:rPr lang="en-US" b="1" dirty="0"/>
              <a:t> and </a:t>
            </a:r>
            <a:r>
              <a:rPr lang="en-US" b="1" dirty="0" err="1"/>
              <a:t>Plotly</a:t>
            </a:r>
            <a:r>
              <a:rPr lang="en-US" dirty="0"/>
              <a:t>. </a:t>
            </a:r>
          </a:p>
          <a:p>
            <a:pPr marL="0" indent="0">
              <a:buNone/>
            </a:pPr>
            <a:r>
              <a:rPr lang="en-US" dirty="0"/>
              <a:t>Displays: </a:t>
            </a:r>
          </a:p>
          <a:p>
            <a:pPr marL="457200" lvl="1" indent="0">
              <a:buNone/>
            </a:pPr>
            <a:r>
              <a:rPr lang="en-US" dirty="0"/>
              <a:t>live data streams </a:t>
            </a:r>
          </a:p>
          <a:p>
            <a:pPr marL="457200" lvl="1" indent="0">
              <a:buNone/>
            </a:pPr>
            <a:r>
              <a:rPr lang="en-US" dirty="0"/>
              <a:t>anomaly alerts </a:t>
            </a:r>
          </a:p>
          <a:p>
            <a:pPr marL="457200" lvl="1" indent="0">
              <a:buNone/>
            </a:pPr>
            <a:r>
              <a:rPr lang="en-US" dirty="0"/>
              <a:t>performance graphs </a:t>
            </a:r>
          </a:p>
          <a:p>
            <a:pPr marL="0" indent="0">
              <a:buNone/>
            </a:pPr>
            <a:r>
              <a:rPr lang="en-US" dirty="0"/>
              <a:t>Helps users monitor system behavior and detect issues instantly. </a:t>
            </a:r>
          </a:p>
          <a:p>
            <a:pPr marL="0" indent="0">
              <a:buNone/>
            </a:pPr>
            <a:br>
              <a:rPr lang="en-US" dirty="0"/>
            </a:br>
            <a:endParaRPr lang="en-US" dirty="0"/>
          </a:p>
          <a:p>
            <a:pPr marL="0" indent="0">
              <a:buNone/>
            </a:pPr>
            <a:r>
              <a:rPr lang="en-US" b="1" dirty="0"/>
              <a:t>7. Integration &amp; Deployment Module</a:t>
            </a:r>
          </a:p>
          <a:p>
            <a:pPr marL="0" indent="0">
              <a:buNone/>
            </a:pPr>
            <a:r>
              <a:rPr lang="en-US" dirty="0"/>
              <a:t>All components are integrated using </a:t>
            </a:r>
            <a:r>
              <a:rPr lang="en-US" b="1" dirty="0"/>
              <a:t>Docker and Docker Compose</a:t>
            </a:r>
            <a:r>
              <a:rPr lang="en-US" dirty="0"/>
              <a:t>. </a:t>
            </a:r>
          </a:p>
          <a:p>
            <a:pPr marL="0" indent="0">
              <a:buNone/>
            </a:pPr>
            <a:r>
              <a:rPr lang="en-US" dirty="0"/>
              <a:t>Ensures: </a:t>
            </a:r>
          </a:p>
          <a:p>
            <a:pPr marL="457200" lvl="1" indent="0">
              <a:buNone/>
            </a:pPr>
            <a:r>
              <a:rPr lang="en-US" dirty="0"/>
              <a:t>easy deployment </a:t>
            </a:r>
          </a:p>
          <a:p>
            <a:pPr marL="457200" lvl="1" indent="0">
              <a:buNone/>
            </a:pPr>
            <a:r>
              <a:rPr lang="en-US" dirty="0"/>
              <a:t>environment consistency </a:t>
            </a:r>
          </a:p>
          <a:p>
            <a:pPr marL="457200" lvl="1" indent="0">
              <a:buNone/>
            </a:pPr>
            <a:r>
              <a:rPr lang="en-US" dirty="0"/>
              <a:t>scalability across systems</a:t>
            </a:r>
          </a:p>
          <a:p>
            <a:pPr marL="0" indent="0">
              <a:buNone/>
            </a:pPr>
            <a:endParaRPr lang="en-IN" dirty="0"/>
          </a:p>
        </p:txBody>
      </p:sp>
    </p:spTree>
    <p:extLst>
      <p:ext uri="{BB962C8B-B14F-4D97-AF65-F5344CB8AC3E}">
        <p14:creationId xmlns:p14="http://schemas.microsoft.com/office/powerpoint/2010/main" val="4080234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AB55-22BC-0C0B-2088-1143B60A8F22}"/>
              </a:ext>
            </a:extLst>
          </p:cNvPr>
          <p:cNvSpPr>
            <a:spLocks noGrp="1"/>
          </p:cNvSpPr>
          <p:nvPr>
            <p:ph type="title"/>
          </p:nvPr>
        </p:nvSpPr>
        <p:spPr/>
        <p:txBody>
          <a:bodyPr/>
          <a:lstStyle/>
          <a:p>
            <a:r>
              <a:rPr lang="en-IN" dirty="0"/>
              <a:t>COMPARISON</a:t>
            </a:r>
          </a:p>
        </p:txBody>
      </p:sp>
      <p:pic>
        <p:nvPicPr>
          <p:cNvPr id="5" name="Content Placeholder 4">
            <a:extLst>
              <a:ext uri="{FF2B5EF4-FFF2-40B4-BE49-F238E27FC236}">
                <a16:creationId xmlns:a16="http://schemas.microsoft.com/office/drawing/2014/main" id="{C878593A-C8CD-FE9B-1455-FF2A3AE904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7794" y="1731963"/>
            <a:ext cx="8534400" cy="4717998"/>
          </a:xfrm>
          <a:prstGeom prst="rect">
            <a:avLst/>
          </a:prstGeom>
        </p:spPr>
      </p:pic>
    </p:spTree>
    <p:extLst>
      <p:ext uri="{BB962C8B-B14F-4D97-AF65-F5344CB8AC3E}">
        <p14:creationId xmlns:p14="http://schemas.microsoft.com/office/powerpoint/2010/main" val="3734883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CEC8F-4490-8A91-C8E8-1668C61B7416}"/>
              </a:ext>
            </a:extLst>
          </p:cNvPr>
          <p:cNvSpPr>
            <a:spLocks noGrp="1"/>
          </p:cNvSpPr>
          <p:nvPr>
            <p:ph type="title"/>
          </p:nvPr>
        </p:nvSpPr>
        <p:spPr/>
        <p:txBody>
          <a:bodyPr/>
          <a:lstStyle/>
          <a:p>
            <a:r>
              <a:rPr lang="en-IN" dirty="0"/>
              <a:t>DISCUSSION</a:t>
            </a:r>
          </a:p>
        </p:txBody>
      </p:sp>
      <p:sp>
        <p:nvSpPr>
          <p:cNvPr id="3" name="Content Placeholder 2">
            <a:extLst>
              <a:ext uri="{FF2B5EF4-FFF2-40B4-BE49-F238E27FC236}">
                <a16:creationId xmlns:a16="http://schemas.microsoft.com/office/drawing/2014/main" id="{58D1FDD8-35CD-6EFF-AA63-46169971CB34}"/>
              </a:ext>
            </a:extLst>
          </p:cNvPr>
          <p:cNvSpPr>
            <a:spLocks noGrp="1"/>
          </p:cNvSpPr>
          <p:nvPr>
            <p:ph idx="1"/>
          </p:nvPr>
        </p:nvSpPr>
        <p:spPr/>
        <p:txBody>
          <a:bodyPr>
            <a:normAutofit/>
          </a:bodyPr>
          <a:lstStyle/>
          <a:p>
            <a:r>
              <a:rPr lang="en-US" dirty="0"/>
              <a:t>The proposed system shows </a:t>
            </a:r>
            <a:r>
              <a:rPr lang="en-US" b="1" dirty="0"/>
              <a:t>significant improvement in accuracy (97.58%)</a:t>
            </a:r>
            <a:r>
              <a:rPr lang="en-US" dirty="0"/>
              <a:t> compared to traditional methods. </a:t>
            </a:r>
          </a:p>
          <a:p>
            <a:r>
              <a:rPr lang="en-US" b="1" dirty="0"/>
              <a:t>Recall is very high (91.78%)</a:t>
            </a:r>
            <a:r>
              <a:rPr lang="en-US" dirty="0"/>
              <a:t>, which ensures most anomalies are detected. </a:t>
            </a:r>
          </a:p>
          <a:p>
            <a:r>
              <a:rPr lang="en-US" dirty="0"/>
              <a:t>Traditional systems have lower performance due to </a:t>
            </a:r>
            <a:r>
              <a:rPr lang="en-US" b="1" dirty="0"/>
              <a:t>static rules and batch processing</a:t>
            </a:r>
            <a:r>
              <a:rPr lang="en-US" dirty="0"/>
              <a:t>. </a:t>
            </a:r>
          </a:p>
          <a:p>
            <a:r>
              <a:rPr lang="en-US" dirty="0"/>
              <a:t>The proposed system uses </a:t>
            </a:r>
            <a:r>
              <a:rPr lang="en-US" b="1" dirty="0"/>
              <a:t>machine learning and real-time streaming</a:t>
            </a:r>
            <a:r>
              <a:rPr lang="en-US" dirty="0"/>
              <a:t>, leading to: </a:t>
            </a:r>
          </a:p>
          <a:p>
            <a:pPr marL="457200" lvl="1" indent="0">
              <a:buNone/>
            </a:pPr>
            <a:r>
              <a:rPr lang="en-US" dirty="0"/>
              <a:t>faster detection </a:t>
            </a:r>
          </a:p>
          <a:p>
            <a:pPr marL="457200" lvl="1" indent="0">
              <a:buNone/>
            </a:pPr>
            <a:r>
              <a:rPr lang="en-US" dirty="0"/>
              <a:t>better scalability </a:t>
            </a:r>
          </a:p>
          <a:p>
            <a:pPr marL="457200" lvl="1" indent="0">
              <a:buNone/>
            </a:pPr>
            <a:r>
              <a:rPr lang="en-US" dirty="0"/>
              <a:t>lower latency </a:t>
            </a:r>
          </a:p>
          <a:p>
            <a:r>
              <a:rPr lang="en-US" dirty="0"/>
              <a:t>Improved </a:t>
            </a:r>
            <a:r>
              <a:rPr lang="en-US" b="1" dirty="0"/>
              <a:t>real-time capability (98%)</a:t>
            </a:r>
            <a:r>
              <a:rPr lang="en-US" dirty="0"/>
              <a:t> makes it suitable for modern streaming applications. </a:t>
            </a:r>
          </a:p>
          <a:p>
            <a:endParaRPr lang="en-IN" dirty="0"/>
          </a:p>
        </p:txBody>
      </p:sp>
    </p:spTree>
    <p:extLst>
      <p:ext uri="{BB962C8B-B14F-4D97-AF65-F5344CB8AC3E}">
        <p14:creationId xmlns:p14="http://schemas.microsoft.com/office/powerpoint/2010/main" val="2014963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2B36F-F3DD-959E-74E6-F4E4BFD44D60}"/>
              </a:ext>
            </a:extLst>
          </p:cNvPr>
          <p:cNvSpPr>
            <a:spLocks noGrp="1"/>
          </p:cNvSpPr>
          <p:nvPr>
            <p:ph type="title"/>
          </p:nvPr>
        </p:nvSpPr>
        <p:spPr/>
        <p:txBody>
          <a:bodyPr/>
          <a:lstStyle/>
          <a:p>
            <a:r>
              <a:rPr lang="en-IN" dirty="0"/>
              <a:t>RESULTS</a:t>
            </a:r>
          </a:p>
        </p:txBody>
      </p:sp>
      <p:pic>
        <p:nvPicPr>
          <p:cNvPr id="14" name="Content Placeholder 13">
            <a:extLst>
              <a:ext uri="{FF2B5EF4-FFF2-40B4-BE49-F238E27FC236}">
                <a16:creationId xmlns:a16="http://schemas.microsoft.com/office/drawing/2014/main" id="{529DE7CB-A6B4-EA95-609E-E25559BAC1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77286" y="3812176"/>
            <a:ext cx="3242569" cy="2108773"/>
          </a:xfrm>
          <a:prstGeom prst="rect">
            <a:avLst/>
          </a:prstGeom>
          <a:effectLst>
            <a:outerShdw blurRad="25400" dir="17880000">
              <a:srgbClr val="000000">
                <a:alpha val="46000"/>
              </a:srgbClr>
            </a:outerShdw>
          </a:effectLst>
        </p:spPr>
      </p:pic>
      <p:pic>
        <p:nvPicPr>
          <p:cNvPr id="17" name="Picture 16">
            <a:extLst>
              <a:ext uri="{FF2B5EF4-FFF2-40B4-BE49-F238E27FC236}">
                <a16:creationId xmlns:a16="http://schemas.microsoft.com/office/drawing/2014/main" id="{9AFAE022-E026-823D-2A7A-D115C580FC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7286" y="1703404"/>
            <a:ext cx="3242568" cy="2108772"/>
          </a:xfrm>
          <a:prstGeom prst="rect">
            <a:avLst/>
          </a:prstGeom>
        </p:spPr>
      </p:pic>
      <p:pic>
        <p:nvPicPr>
          <p:cNvPr id="19" name="Picture 18">
            <a:extLst>
              <a:ext uri="{FF2B5EF4-FFF2-40B4-BE49-F238E27FC236}">
                <a16:creationId xmlns:a16="http://schemas.microsoft.com/office/drawing/2014/main" id="{FFA99461-50BA-B247-E9E7-7535121E36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2267" y="1853545"/>
            <a:ext cx="4845018" cy="3150909"/>
          </a:xfrm>
          <a:prstGeom prst="rect">
            <a:avLst/>
          </a:prstGeom>
        </p:spPr>
      </p:pic>
    </p:spTree>
    <p:extLst>
      <p:ext uri="{BB962C8B-B14F-4D97-AF65-F5344CB8AC3E}">
        <p14:creationId xmlns:p14="http://schemas.microsoft.com/office/powerpoint/2010/main" val="2427117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B61D2-29C7-560B-4EFF-F3F02583617D}"/>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71B6E4DA-23AE-E907-963F-96405C5FE4D9}"/>
              </a:ext>
            </a:extLst>
          </p:cNvPr>
          <p:cNvSpPr>
            <a:spLocks noGrp="1"/>
          </p:cNvSpPr>
          <p:nvPr>
            <p:ph idx="1"/>
          </p:nvPr>
        </p:nvSpPr>
        <p:spPr>
          <a:xfrm>
            <a:off x="739878" y="1825625"/>
            <a:ext cx="10515600" cy="4351338"/>
          </a:xfrm>
        </p:spPr>
        <p:txBody>
          <a:bodyPr>
            <a:normAutofit fontScale="92500" lnSpcReduction="20000"/>
          </a:bodyPr>
          <a:lstStyle/>
          <a:p>
            <a:pPr marL="0" indent="0">
              <a:buNone/>
            </a:pPr>
            <a:r>
              <a:rPr lang="en-US" dirty="0"/>
              <a:t>This project successfully implements a </a:t>
            </a:r>
            <a:r>
              <a:rPr lang="en-US" b="1" dirty="0"/>
              <a:t>Real-Time Anomaly Detection System</a:t>
            </a:r>
            <a:r>
              <a:rPr lang="en-US" dirty="0"/>
              <a:t> using streaming technologies and machine learning.</a:t>
            </a:r>
          </a:p>
          <a:p>
            <a:pPr marL="0" indent="0">
              <a:buNone/>
            </a:pPr>
            <a:r>
              <a:rPr lang="en-US" dirty="0"/>
              <a:t>The system integrates:</a:t>
            </a:r>
          </a:p>
          <a:p>
            <a:r>
              <a:rPr lang="en-US" b="1" dirty="0"/>
              <a:t>Kafka</a:t>
            </a:r>
            <a:r>
              <a:rPr lang="en-US" dirty="0"/>
              <a:t> for real-time data streaming </a:t>
            </a:r>
          </a:p>
          <a:p>
            <a:r>
              <a:rPr lang="en-US" b="1" dirty="0"/>
              <a:t>Spark</a:t>
            </a:r>
            <a:r>
              <a:rPr lang="en-US" dirty="0"/>
              <a:t> for stream processing </a:t>
            </a:r>
          </a:p>
          <a:p>
            <a:r>
              <a:rPr lang="en-US" b="1" dirty="0"/>
              <a:t>Isolation Forest</a:t>
            </a:r>
            <a:r>
              <a:rPr lang="en-US" dirty="0"/>
              <a:t> for anomaly detection </a:t>
            </a:r>
          </a:p>
          <a:p>
            <a:pPr marL="0" indent="0">
              <a:buNone/>
            </a:pPr>
            <a:r>
              <a:rPr lang="en-US" dirty="0"/>
              <a:t>It effectively identifies abnormal patterns in continuous data streams and provides real-time visualization through a dashboard.</a:t>
            </a:r>
          </a:p>
          <a:p>
            <a:pPr marL="0" indent="0">
              <a:buNone/>
            </a:pPr>
            <a:r>
              <a:rPr lang="en-US" dirty="0"/>
              <a:t>The results demonstrate that the system achieves </a:t>
            </a:r>
            <a:r>
              <a:rPr lang="en-US" b="1" dirty="0"/>
              <a:t>high accuracy and strong detection capability</a:t>
            </a:r>
            <a:r>
              <a:rPr lang="en-US" dirty="0"/>
              <a:t>, making it suitable for applications such as system monitoring, fraud detection, and industrial analytics.</a:t>
            </a:r>
          </a:p>
          <a:p>
            <a:pPr marL="0" indent="0">
              <a:buNone/>
            </a:pPr>
            <a:r>
              <a:rPr lang="en-US" dirty="0"/>
              <a:t>Overall, the proposed system provides a </a:t>
            </a:r>
            <a:r>
              <a:rPr lang="en-US" b="1" dirty="0"/>
              <a:t>scalable, efficient, and automated solution</a:t>
            </a:r>
            <a:r>
              <a:rPr lang="en-US" dirty="0"/>
              <a:t> for detecting anomalies in real-time environments.</a:t>
            </a:r>
          </a:p>
          <a:p>
            <a:endParaRPr lang="en-IN" dirty="0"/>
          </a:p>
        </p:txBody>
      </p:sp>
    </p:spTree>
    <p:extLst>
      <p:ext uri="{BB962C8B-B14F-4D97-AF65-F5344CB8AC3E}">
        <p14:creationId xmlns:p14="http://schemas.microsoft.com/office/powerpoint/2010/main" val="3783711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7DCC5-9903-CA50-AC7F-2F0CEDC41191}"/>
              </a:ext>
            </a:extLst>
          </p:cNvPr>
          <p:cNvSpPr>
            <a:spLocks noGrp="1"/>
          </p:cNvSpPr>
          <p:nvPr>
            <p:ph type="title"/>
          </p:nvPr>
        </p:nvSpPr>
        <p:spPr/>
        <p:txBody>
          <a:bodyPr/>
          <a:lstStyle/>
          <a:p>
            <a:r>
              <a:rPr lang="en-IN" dirty="0"/>
              <a:t>FUTURE DIRECTION</a:t>
            </a:r>
          </a:p>
        </p:txBody>
      </p:sp>
      <p:sp>
        <p:nvSpPr>
          <p:cNvPr id="3" name="Content Placeholder 2">
            <a:extLst>
              <a:ext uri="{FF2B5EF4-FFF2-40B4-BE49-F238E27FC236}">
                <a16:creationId xmlns:a16="http://schemas.microsoft.com/office/drawing/2014/main" id="{CA53E6AE-ACEB-6D99-36AB-2DD3AB69B48C}"/>
              </a:ext>
            </a:extLst>
          </p:cNvPr>
          <p:cNvSpPr>
            <a:spLocks noGrp="1"/>
          </p:cNvSpPr>
          <p:nvPr>
            <p:ph idx="1"/>
          </p:nvPr>
        </p:nvSpPr>
        <p:spPr/>
        <p:txBody>
          <a:bodyPr>
            <a:normAutofit fontScale="85000" lnSpcReduction="10000"/>
          </a:bodyPr>
          <a:lstStyle/>
          <a:p>
            <a:pPr marL="0" indent="0">
              <a:buNone/>
            </a:pPr>
            <a:r>
              <a:rPr lang="en-US" dirty="0"/>
              <a:t>The system can be further improved with the following enhancements:</a:t>
            </a:r>
          </a:p>
          <a:p>
            <a:r>
              <a:rPr lang="en-US" b="1" dirty="0"/>
              <a:t>Advanced Models:</a:t>
            </a:r>
            <a:br>
              <a:rPr lang="en-US" dirty="0"/>
            </a:br>
            <a:r>
              <a:rPr lang="en-US" dirty="0"/>
              <a:t>Implement deep learning models such as </a:t>
            </a:r>
            <a:r>
              <a:rPr lang="en-US" b="1" dirty="0"/>
              <a:t>LSTM or Transformer-based models</a:t>
            </a:r>
            <a:r>
              <a:rPr lang="en-US" dirty="0"/>
              <a:t> for better accuracy. </a:t>
            </a:r>
          </a:p>
          <a:p>
            <a:r>
              <a:rPr lang="en-US" b="1" dirty="0"/>
              <a:t>Cloud Deployment:</a:t>
            </a:r>
            <a:br>
              <a:rPr lang="en-US" dirty="0"/>
            </a:br>
            <a:r>
              <a:rPr lang="en-US" dirty="0"/>
              <a:t>Deploy the system on </a:t>
            </a:r>
            <a:r>
              <a:rPr lang="en-US" b="1" dirty="0"/>
              <a:t>cloud platforms (AWS, Azure, GCP)</a:t>
            </a:r>
            <a:r>
              <a:rPr lang="en-US" dirty="0"/>
              <a:t> for scalability and real-time access. </a:t>
            </a:r>
          </a:p>
          <a:p>
            <a:r>
              <a:rPr lang="en-US" b="1" dirty="0"/>
              <a:t>Edge Computing Integration:</a:t>
            </a:r>
            <a:br>
              <a:rPr lang="en-US" dirty="0"/>
            </a:br>
            <a:r>
              <a:rPr lang="en-US" dirty="0"/>
              <a:t>Enable anomaly detection directly on </a:t>
            </a:r>
            <a:r>
              <a:rPr lang="en-US" b="1" dirty="0"/>
              <a:t>IoT devices</a:t>
            </a:r>
            <a:r>
              <a:rPr lang="en-US" dirty="0"/>
              <a:t> for faster response. </a:t>
            </a:r>
          </a:p>
          <a:p>
            <a:r>
              <a:rPr lang="en-US" b="1" dirty="0"/>
              <a:t>Alert System:</a:t>
            </a:r>
            <a:br>
              <a:rPr lang="en-US" dirty="0"/>
            </a:br>
            <a:r>
              <a:rPr lang="en-US" dirty="0"/>
              <a:t>Add automated </a:t>
            </a:r>
            <a:r>
              <a:rPr lang="en-US" b="1" dirty="0"/>
              <a:t>real-time alerts (email/SMS notifications)</a:t>
            </a:r>
            <a:r>
              <a:rPr lang="en-US" dirty="0"/>
              <a:t> for detected anomalies. </a:t>
            </a:r>
          </a:p>
          <a:p>
            <a:r>
              <a:rPr lang="en-US" b="1" dirty="0"/>
              <a:t>Model Optimization:</a:t>
            </a:r>
            <a:br>
              <a:rPr lang="en-US" dirty="0"/>
            </a:br>
            <a:r>
              <a:rPr lang="en-US" dirty="0"/>
              <a:t>Reduce false positives by using </a:t>
            </a:r>
            <a:r>
              <a:rPr lang="en-US" b="1" dirty="0"/>
              <a:t>ensemble methods or hybrid models</a:t>
            </a:r>
            <a:r>
              <a:rPr lang="en-US" dirty="0"/>
              <a:t>. </a:t>
            </a:r>
          </a:p>
          <a:p>
            <a:r>
              <a:rPr lang="en-US" b="1" dirty="0"/>
              <a:t>Real-world Data Integration:</a:t>
            </a:r>
            <a:br>
              <a:rPr lang="en-US" dirty="0"/>
            </a:br>
            <a:r>
              <a:rPr lang="en-US" dirty="0"/>
              <a:t>Replace synthetic data with real industrial or financial datasets. </a:t>
            </a:r>
          </a:p>
          <a:p>
            <a:endParaRPr lang="en-IN" dirty="0"/>
          </a:p>
        </p:txBody>
      </p:sp>
    </p:spTree>
    <p:extLst>
      <p:ext uri="{BB962C8B-B14F-4D97-AF65-F5344CB8AC3E}">
        <p14:creationId xmlns:p14="http://schemas.microsoft.com/office/powerpoint/2010/main" val="3839660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E1245-C10C-C38F-C464-F3F2659E6B60}"/>
              </a:ext>
            </a:extLst>
          </p:cNvPr>
          <p:cNvSpPr>
            <a:spLocks noGrp="1"/>
          </p:cNvSpPr>
          <p:nvPr>
            <p:ph type="title"/>
          </p:nvPr>
        </p:nvSpPr>
        <p:spPr>
          <a:xfrm>
            <a:off x="838200" y="365125"/>
            <a:ext cx="10515600" cy="863907"/>
          </a:xfrm>
        </p:spPr>
        <p:txBody>
          <a:bodyPr/>
          <a:lstStyle/>
          <a:p>
            <a:r>
              <a:rPr lang="en-IN" dirty="0"/>
              <a:t>REFERENCES</a:t>
            </a:r>
          </a:p>
        </p:txBody>
      </p:sp>
      <p:sp>
        <p:nvSpPr>
          <p:cNvPr id="4" name="Rectangle 1">
            <a:extLst>
              <a:ext uri="{FF2B5EF4-FFF2-40B4-BE49-F238E27FC236}">
                <a16:creationId xmlns:a16="http://schemas.microsoft.com/office/drawing/2014/main" id="{9C6C1DF8-9040-97F4-F5FF-5DB548848D54}"/>
              </a:ext>
            </a:extLst>
          </p:cNvPr>
          <p:cNvSpPr>
            <a:spLocks noGrp="1" noChangeArrowheads="1"/>
          </p:cNvSpPr>
          <p:nvPr>
            <p:ph idx="1"/>
          </p:nvPr>
        </p:nvSpPr>
        <p:spPr bwMode="auto">
          <a:xfrm>
            <a:off x="838198" y="1154104"/>
            <a:ext cx="11049001" cy="577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79800" indent="-342900">
              <a:buFont typeface="+mj-lt"/>
              <a:buAutoNum type="arabicPeriod"/>
            </a:pPr>
            <a:r>
              <a:rPr lang="en-IN" sz="1400" b="1" dirty="0"/>
              <a:t>Isolation Forest</a:t>
            </a:r>
            <a:br>
              <a:rPr lang="en-IN" sz="1400" dirty="0"/>
            </a:br>
            <a:r>
              <a:rPr lang="en-IN" sz="1400" dirty="0">
                <a:hlinkClick r:id="rId2"/>
              </a:rPr>
              <a:t>https://ieeexplore.ieee.org/document/4781136</a:t>
            </a:r>
            <a:r>
              <a:rPr lang="en-IN" sz="1400" dirty="0"/>
              <a:t> </a:t>
            </a:r>
          </a:p>
          <a:p>
            <a:pPr marL="379800" indent="-342900">
              <a:buFont typeface="+mj-lt"/>
              <a:buAutoNum type="arabicPeriod"/>
            </a:pPr>
            <a:r>
              <a:rPr lang="en-IN" sz="1400" b="1" dirty="0"/>
              <a:t>LSTM-based Encoder-Decoder for Multi-sensor Anomaly Detection</a:t>
            </a:r>
            <a:br>
              <a:rPr lang="en-IN" sz="1400" dirty="0"/>
            </a:br>
            <a:r>
              <a:rPr lang="en-IN" sz="1400" dirty="0">
                <a:hlinkClick r:id="rId3"/>
              </a:rPr>
              <a:t>https://arxiv.org/abs/1607.00148</a:t>
            </a:r>
            <a:r>
              <a:rPr lang="en-IN" sz="1400" dirty="0"/>
              <a:t> </a:t>
            </a:r>
          </a:p>
          <a:p>
            <a:pPr marL="379800" indent="-342900">
              <a:buFont typeface="+mj-lt"/>
              <a:buAutoNum type="arabicPeriod"/>
            </a:pPr>
            <a:r>
              <a:rPr lang="en-IN" sz="1400" b="1" dirty="0"/>
              <a:t>Detecting Spacecraft Anomalies Using LSTMs and Nonparametric Dynamic Thresholding</a:t>
            </a:r>
            <a:br>
              <a:rPr lang="en-IN" sz="1400" dirty="0"/>
            </a:br>
            <a:r>
              <a:rPr lang="en-IN" sz="1400" dirty="0">
                <a:hlinkClick r:id="rId4"/>
              </a:rPr>
              <a:t>https://arxiv.org/abs/1802.04431</a:t>
            </a:r>
            <a:r>
              <a:rPr lang="en-IN" sz="1400" dirty="0"/>
              <a:t> </a:t>
            </a:r>
          </a:p>
          <a:p>
            <a:pPr marL="379800" indent="-342900">
              <a:buFont typeface="+mj-lt"/>
              <a:buAutoNum type="arabicPeriod"/>
            </a:pPr>
            <a:r>
              <a:rPr lang="en-IN" sz="1400" b="1" dirty="0"/>
              <a:t>Anomaly Detection: A Survey</a:t>
            </a:r>
            <a:br>
              <a:rPr lang="en-IN" sz="1400" dirty="0"/>
            </a:br>
            <a:r>
              <a:rPr lang="en-IN" sz="1400" dirty="0">
                <a:hlinkClick r:id="rId5"/>
              </a:rPr>
              <a:t>https://doi.org/10.1145/1541880.1541882</a:t>
            </a:r>
            <a:r>
              <a:rPr lang="en-IN" sz="1400" dirty="0"/>
              <a:t> </a:t>
            </a:r>
          </a:p>
          <a:p>
            <a:pPr marL="379800" indent="-342900">
              <a:buFont typeface="+mj-lt"/>
              <a:buAutoNum type="arabicPeriod"/>
            </a:pPr>
            <a:r>
              <a:rPr lang="en-IN" sz="1400" b="1" dirty="0"/>
              <a:t>Collective Anomaly Detection Based on Long Short-Term Memory Recurrent Neural Networks</a:t>
            </a:r>
            <a:br>
              <a:rPr lang="en-IN" sz="1400" dirty="0"/>
            </a:br>
            <a:r>
              <a:rPr lang="en-IN" sz="1400" dirty="0"/>
              <a:t>https://link.springer.com/chapter/10.1007/978-3-319-48057-2_15 </a:t>
            </a:r>
          </a:p>
          <a:p>
            <a:pPr marL="379800" indent="-342900">
              <a:buFont typeface="+mj-lt"/>
              <a:buAutoNum type="arabicPeriod"/>
            </a:pPr>
            <a:r>
              <a:rPr lang="en-IN" sz="1400" b="1" dirty="0"/>
              <a:t>LOF: Identifying Density-Based Local Outliers</a:t>
            </a:r>
            <a:br>
              <a:rPr lang="en-IN" sz="1400" dirty="0"/>
            </a:br>
            <a:r>
              <a:rPr lang="en-IN" sz="1400" dirty="0">
                <a:hlinkClick r:id="rId6"/>
              </a:rPr>
              <a:t>https://dl.acm.org/doi/10.1145/342009.335388</a:t>
            </a:r>
            <a:r>
              <a:rPr lang="en-IN" sz="1400" dirty="0"/>
              <a:t> </a:t>
            </a:r>
          </a:p>
          <a:p>
            <a:pPr marL="379800" indent="-342900">
              <a:buFont typeface="+mj-lt"/>
              <a:buAutoNum type="arabicPeriod"/>
            </a:pPr>
            <a:r>
              <a:rPr lang="en-IN" sz="1400" b="1" dirty="0"/>
              <a:t>Deep Autoencoding Gaussian Mixture Model for Unsupervised Anomaly Detection</a:t>
            </a:r>
            <a:br>
              <a:rPr lang="en-IN" sz="1400" dirty="0"/>
            </a:br>
            <a:r>
              <a:rPr lang="en-IN" sz="1400" dirty="0">
                <a:hlinkClick r:id="rId7"/>
              </a:rPr>
              <a:t>https://arxiv.org/abs/1802.03903</a:t>
            </a:r>
            <a:r>
              <a:rPr lang="en-IN" sz="1400" dirty="0"/>
              <a:t> </a:t>
            </a:r>
          </a:p>
          <a:p>
            <a:pPr marL="379800" indent="-342900">
              <a:buFont typeface="+mj-lt"/>
              <a:buAutoNum type="arabicPeriod"/>
            </a:pPr>
            <a:r>
              <a:rPr lang="en-IN" sz="1400" b="1" dirty="0"/>
              <a:t>Robust Principal Component Analysis?</a:t>
            </a:r>
            <a:br>
              <a:rPr lang="en-IN" sz="1400" dirty="0"/>
            </a:br>
            <a:r>
              <a:rPr lang="en-IN" sz="1400" dirty="0">
                <a:solidFill>
                  <a:srgbClr val="0070C0"/>
                </a:solidFill>
                <a:hlinkClick r:id="rId8">
                  <a:extLst>
                    <a:ext uri="{A12FA001-AC4F-418D-AE19-62706E023703}">
                      <ahyp:hlinkClr xmlns:ahyp="http://schemas.microsoft.com/office/drawing/2018/hyperlinkcolor" val="tx"/>
                    </a:ext>
                  </a:extLst>
                </a:hlinkClick>
              </a:rPr>
              <a:t>https://doi.org/10.1145/1970392.1970395</a:t>
            </a:r>
            <a:r>
              <a:rPr lang="en-IN" sz="1400" dirty="0">
                <a:solidFill>
                  <a:srgbClr val="0070C0"/>
                </a:solidFill>
              </a:rPr>
              <a:t> </a:t>
            </a:r>
          </a:p>
          <a:p>
            <a:pPr marL="379800" indent="-342900">
              <a:buFont typeface="+mj-lt"/>
              <a:buAutoNum type="arabicPeriod"/>
            </a:pPr>
            <a:r>
              <a:rPr lang="en-IN" sz="1400" b="1" dirty="0"/>
              <a:t>A Survey on Deep Learning for Anomaly Detection</a:t>
            </a:r>
            <a:br>
              <a:rPr lang="en-IN" sz="1400" dirty="0"/>
            </a:br>
            <a:r>
              <a:rPr lang="en-IN" sz="1400" dirty="0">
                <a:hlinkClick r:id="rId9"/>
              </a:rPr>
              <a:t>https://arxiv.org/abs/1901.03407</a:t>
            </a:r>
            <a:r>
              <a:rPr lang="en-IN" sz="1400" dirty="0"/>
              <a:t> </a:t>
            </a:r>
          </a:p>
          <a:p>
            <a:pPr marL="379800" indent="-342900">
              <a:buFont typeface="+mj-lt"/>
              <a:buAutoNum type="arabicPeriod"/>
            </a:pPr>
            <a:r>
              <a:rPr lang="en-IN" sz="1400" b="1" dirty="0"/>
              <a:t>Time-Series Anomaly Detection Service at Microsoft</a:t>
            </a:r>
            <a:br>
              <a:rPr lang="en-IN" sz="1400" dirty="0"/>
            </a:br>
            <a:r>
              <a:rPr lang="en-IN" sz="1400" dirty="0">
                <a:hlinkClick r:id="rId10"/>
              </a:rPr>
              <a:t>https://arxiv.org/abs/1906.03821</a:t>
            </a:r>
            <a:r>
              <a:rPr lang="en-IN" sz="1400" dirty="0"/>
              <a:t> </a:t>
            </a:r>
          </a:p>
          <a:p>
            <a:pPr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99704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9DBBFB-9332-0CB8-FF13-FFBE0C88370E}"/>
              </a:ext>
            </a:extLst>
          </p:cNvPr>
          <p:cNvSpPr>
            <a:spLocks noGrp="1"/>
          </p:cNvSpPr>
          <p:nvPr>
            <p:ph idx="1"/>
          </p:nvPr>
        </p:nvSpPr>
        <p:spPr>
          <a:xfrm>
            <a:off x="1" y="2851355"/>
            <a:ext cx="12191999" cy="3959943"/>
          </a:xfrm>
        </p:spPr>
        <p:txBody>
          <a:bodyPr>
            <a:normAutofit/>
          </a:bodyPr>
          <a:lstStyle/>
          <a:p>
            <a:pPr marL="36900" indent="0" algn="ctr">
              <a:buNone/>
            </a:pPr>
            <a:r>
              <a:rPr lang="en-IN" sz="5400" dirty="0"/>
              <a:t>THANK YOU</a:t>
            </a:r>
          </a:p>
          <a:p>
            <a:pPr algn="ctr"/>
            <a:endParaRPr lang="en-IN" dirty="0"/>
          </a:p>
        </p:txBody>
      </p:sp>
    </p:spTree>
    <p:extLst>
      <p:ext uri="{BB962C8B-B14F-4D97-AF65-F5344CB8AC3E}">
        <p14:creationId xmlns:p14="http://schemas.microsoft.com/office/powerpoint/2010/main" val="19401337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88</TotalTime>
  <Words>979</Words>
  <Application>Microsoft Macintosh PowerPoint</Application>
  <PresentationFormat>Widescreen</PresentationFormat>
  <Paragraphs>117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Calisto MT</vt:lpstr>
      <vt:lpstr>Wingdings 2</vt:lpstr>
      <vt:lpstr>Slate</vt:lpstr>
      <vt:lpstr>Realtime anomaly detection</vt:lpstr>
      <vt:lpstr>TABLE OF CONTENTS</vt:lpstr>
      <vt:lpstr>Review2 comments</vt:lpstr>
      <vt:lpstr>INTRODUCTION</vt:lpstr>
      <vt:lpstr>MODULE-WISE IMPLEMENTATION</vt:lpstr>
      <vt:lpstr>PowerPoint Presentation</vt:lpstr>
      <vt:lpstr>PowerPoint Presentation</vt:lpstr>
      <vt:lpstr>COMPARISON</vt:lpstr>
      <vt:lpstr>DISCUSSION</vt:lpstr>
      <vt:lpstr>RESULTS</vt:lpstr>
      <vt:lpstr>CONCLUSION</vt:lpstr>
      <vt:lpstr>FUTURE DIRECTION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sahitya kunaparaju</dc:creator>
  <cp:lastModifiedBy>N V V S S JAYAKANTH KAMISETTI .</cp:lastModifiedBy>
  <cp:revision>3</cp:revision>
  <dcterms:created xsi:type="dcterms:W3CDTF">2026-03-25T06:28:26Z</dcterms:created>
  <dcterms:modified xsi:type="dcterms:W3CDTF">2026-04-02T12:41:00Z</dcterms:modified>
</cp:coreProperties>
</file>